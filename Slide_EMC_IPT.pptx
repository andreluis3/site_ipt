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463" r:id="rId2"/>
    <p:sldId id="464" r:id="rId3"/>
  </p:sldIdLst>
  <p:sldSz cx="12192000" cy="6858000"/>
  <p:notesSz cx="6858000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88E"/>
    <a:srgbClr val="E7E7E5"/>
    <a:srgbClr val="D6D6D4"/>
    <a:srgbClr val="4A7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50" autoAdjust="0"/>
  </p:normalViewPr>
  <p:slideViewPr>
    <p:cSldViewPr snapToGrid="0" snapToObjects="1">
      <p:cViewPr varScale="1">
        <p:scale>
          <a:sx n="103" d="100"/>
          <a:sy n="103" d="100"/>
        </p:scale>
        <p:origin x="79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0F552-D402-4006-B1DD-ACA8DCA825D1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206FA-397C-43E2-B2D7-7B0466CB5B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215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206FA-397C-43E2-B2D7-7B0466CB5B5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3827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206FA-397C-43E2-B2D7-7B0466CB5B5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8581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ulo-2-Colunas(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D9C9C3-C93A-40FF-86BC-C4A0698D06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71724" y="6356350"/>
            <a:ext cx="1209675" cy="365125"/>
          </a:xfrm>
        </p:spPr>
        <p:txBody>
          <a:bodyPr/>
          <a:lstStyle/>
          <a:p>
            <a:fld id="{1F7F07E4-EC4F-4494-89D8-3B03DA2CCD2D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8A094B-157E-46AC-B598-6842A4A1E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963C7D-5F0B-4EEA-9DAD-3896DEB2D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7AF5-D703-47A7-9F4E-C04E1C2144E5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72C06E-FE89-4AB7-A081-F9826C7DD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65" y="70118"/>
            <a:ext cx="11408634" cy="1325563"/>
          </a:xfrm>
        </p:spPr>
        <p:txBody>
          <a:bodyPr/>
          <a:lstStyle>
            <a:lvl1pPr>
              <a:defRPr b="1" cap="all" baseline="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1F6E84E-1AE8-4DFA-92F6-678943FCC2FA}"/>
              </a:ext>
            </a:extLst>
          </p:cNvPr>
          <p:cNvSpPr/>
          <p:nvPr userDrawn="1"/>
        </p:nvSpPr>
        <p:spPr>
          <a:xfrm>
            <a:off x="-8544" y="-2"/>
            <a:ext cx="359368" cy="6846739"/>
          </a:xfrm>
          <a:prstGeom prst="rect">
            <a:avLst/>
          </a:prstGeom>
          <a:solidFill>
            <a:srgbClr val="0417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1250775A-9BEC-43EE-A44F-6353F8B7F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64" y="1687066"/>
            <a:ext cx="5550761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C43EF457-C9AB-445B-A7AE-AD0D3452D0C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38875" y="1687066"/>
            <a:ext cx="5550761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77084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">
            <a:extLst>
              <a:ext uri="{FF2B5EF4-FFF2-40B4-BE49-F238E27FC236}">
                <a16:creationId xmlns:a16="http://schemas.microsoft.com/office/drawing/2014/main" id="{E02875A1-8A8A-4355-A5ED-CC2156742B2B}"/>
              </a:ext>
            </a:extLst>
          </p:cNvPr>
          <p:cNvSpPr txBox="1"/>
          <p:nvPr/>
        </p:nvSpPr>
        <p:spPr>
          <a:xfrm>
            <a:off x="438912" y="387173"/>
            <a:ext cx="1090170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3600" b="1" dirty="0">
                <a:solidFill>
                  <a:srgbClr val="005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Eletrodoméstico Compatibilidade Eletromagnética </a:t>
            </a:r>
            <a:r>
              <a:rPr sz="3600" b="1" dirty="0">
                <a:solidFill>
                  <a:srgbClr val="005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CD3782F4-B339-4F2D-A076-BD38C6F89D21}"/>
              </a:ext>
            </a:extLst>
          </p:cNvPr>
          <p:cNvSpPr/>
          <p:nvPr/>
        </p:nvSpPr>
        <p:spPr>
          <a:xfrm>
            <a:off x="7409248" y="3941892"/>
            <a:ext cx="247652" cy="1470024"/>
          </a:xfrm>
          <a:prstGeom prst="roundRect">
            <a:avLst>
              <a:gd name="adj" fmla="val 31689"/>
            </a:avLst>
          </a:prstGeom>
          <a:solidFill>
            <a:srgbClr val="4A7EBB"/>
          </a:solidFill>
          <a:ln w="88900"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56FD701D-41D0-45E4-96B2-A58C6565B5FA}"/>
              </a:ext>
            </a:extLst>
          </p:cNvPr>
          <p:cNvSpPr txBox="1"/>
          <p:nvPr/>
        </p:nvSpPr>
        <p:spPr>
          <a:xfrm>
            <a:off x="478778" y="950829"/>
            <a:ext cx="11088382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00588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Instituto de Pesquisas Tecnológicas do Estado de São Paulo S.A. – IPT </a:t>
            </a:r>
            <a:r>
              <a:rPr lang="pt-BR" sz="1000" dirty="0">
                <a:solidFill>
                  <a:srgbClr val="00588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 Unidade Energia | </a:t>
            </a:r>
            <a:r>
              <a:rPr sz="1100" dirty="0">
                <a:solidFill>
                  <a:srgbClr val="00588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Laboratório</a:t>
            </a:r>
            <a:r>
              <a:rPr sz="1000" dirty="0">
                <a:solidFill>
                  <a:srgbClr val="00588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de Usos </a:t>
            </a:r>
            <a:r>
              <a:rPr lang="pt-BR" sz="1000" dirty="0">
                <a:solidFill>
                  <a:srgbClr val="00588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Finais</a:t>
            </a:r>
            <a:r>
              <a:rPr sz="1000" dirty="0">
                <a:solidFill>
                  <a:srgbClr val="00588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 Gestão de </a:t>
            </a:r>
            <a:r>
              <a:rPr lang="pt-BR" sz="1000" dirty="0">
                <a:solidFill>
                  <a:srgbClr val="00588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Energia – LGE</a:t>
            </a:r>
            <a:endParaRPr sz="1000" dirty="0">
              <a:solidFill>
                <a:srgbClr val="00588E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7CADC7E3-86FE-4A52-8101-9E84EBDE1717}"/>
              </a:ext>
            </a:extLst>
          </p:cNvPr>
          <p:cNvSpPr txBox="1"/>
          <p:nvPr/>
        </p:nvSpPr>
        <p:spPr>
          <a:xfrm>
            <a:off x="6904757" y="6581001"/>
            <a:ext cx="394319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/>
              <a:t>Laboratório </a:t>
            </a:r>
            <a:r>
              <a:rPr lang="pt-BR" sz="1200" dirty="0"/>
              <a:t>acreditado</a:t>
            </a:r>
            <a:r>
              <a:rPr sz="1200" dirty="0"/>
              <a:t> ABNT NBR ISO/IEC 17025 | CRL 0045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1765FBFF-E951-473C-8CC1-2CFFE5795671}"/>
              </a:ext>
            </a:extLst>
          </p:cNvPr>
          <p:cNvSpPr txBox="1"/>
          <p:nvPr/>
        </p:nvSpPr>
        <p:spPr>
          <a:xfrm>
            <a:off x="7925467" y="6353741"/>
            <a:ext cx="28461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pt-BR" sz="1200" b="1" dirty="0">
                <a:solidFill>
                  <a:srgbClr val="0F2D55"/>
                </a:solidFill>
              </a:rPr>
              <a:t>Consulte</a:t>
            </a:r>
            <a:r>
              <a:rPr sz="1200" b="1" dirty="0">
                <a:solidFill>
                  <a:srgbClr val="0F2D55"/>
                </a:solidFill>
              </a:rPr>
              <a:t> o IPT para ensaios e </a:t>
            </a:r>
            <a:r>
              <a:rPr lang="pt-BR" sz="1200" b="1" dirty="0">
                <a:solidFill>
                  <a:srgbClr val="0F2D55"/>
                </a:solidFill>
              </a:rPr>
              <a:t>qualificação</a:t>
            </a:r>
            <a:endParaRPr sz="1200" b="1" dirty="0">
              <a:solidFill>
                <a:srgbClr val="0F2D55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8ECC341-16C9-4828-B528-A5FD746D3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1752" y="5681982"/>
            <a:ext cx="720000" cy="70391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86105DC-8987-456F-8949-86A0F5399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48" y="1541566"/>
            <a:ext cx="5940000" cy="477330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E4DA1B0-362A-4C9B-9D73-42FFE716A77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1399"/>
          <a:stretch/>
        </p:blipFill>
        <p:spPr>
          <a:xfrm>
            <a:off x="10890614" y="345704"/>
            <a:ext cx="900000" cy="685744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A315E07-AD31-4E91-B67F-C6A16FBF7E67}"/>
              </a:ext>
            </a:extLst>
          </p:cNvPr>
          <p:cNvSpPr/>
          <p:nvPr/>
        </p:nvSpPr>
        <p:spPr>
          <a:xfrm>
            <a:off x="7402147" y="1579786"/>
            <a:ext cx="247652" cy="2138774"/>
          </a:xfrm>
          <a:prstGeom prst="roundRect">
            <a:avLst>
              <a:gd name="adj" fmla="val 31689"/>
            </a:avLst>
          </a:prstGeom>
          <a:solidFill>
            <a:srgbClr val="4A7EBB"/>
          </a:solidFill>
          <a:ln w="88900"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Superiores Arredondados 18">
            <a:extLst>
              <a:ext uri="{FF2B5EF4-FFF2-40B4-BE49-F238E27FC236}">
                <a16:creationId xmlns:a16="http://schemas.microsoft.com/office/drawing/2014/main" id="{0A673BF8-DB93-4AC4-B44C-56EEE6FE09BB}"/>
              </a:ext>
            </a:extLst>
          </p:cNvPr>
          <p:cNvSpPr/>
          <p:nvPr/>
        </p:nvSpPr>
        <p:spPr>
          <a:xfrm rot="16200000">
            <a:off x="8713076" y="268137"/>
            <a:ext cx="2210861" cy="4746988"/>
          </a:xfrm>
          <a:prstGeom prst="round2SameRect">
            <a:avLst>
              <a:gd name="adj1" fmla="val 6982"/>
              <a:gd name="adj2" fmla="val 0"/>
            </a:avLst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Retângulo: Cantos Superiores Arredondados 23">
            <a:extLst>
              <a:ext uri="{FF2B5EF4-FFF2-40B4-BE49-F238E27FC236}">
                <a16:creationId xmlns:a16="http://schemas.microsoft.com/office/drawing/2014/main" id="{D5396495-25B1-4EE7-AB3F-65A72FF34025}"/>
              </a:ext>
            </a:extLst>
          </p:cNvPr>
          <p:cNvSpPr/>
          <p:nvPr/>
        </p:nvSpPr>
        <p:spPr>
          <a:xfrm rot="16200000">
            <a:off x="9052380" y="2304883"/>
            <a:ext cx="1549401" cy="4744039"/>
          </a:xfrm>
          <a:prstGeom prst="round2SameRect">
            <a:avLst>
              <a:gd name="adj1" fmla="val 6982"/>
              <a:gd name="adj2" fmla="val 0"/>
            </a:avLst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DF11F0A-8FC4-4161-994F-20EDDE9A1037}"/>
              </a:ext>
            </a:extLst>
          </p:cNvPr>
          <p:cNvSpPr txBox="1"/>
          <p:nvPr/>
        </p:nvSpPr>
        <p:spPr>
          <a:xfrm>
            <a:off x="7925465" y="1536200"/>
            <a:ext cx="4266536" cy="2210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</a:schemeClr>
                </a:solidFill>
              </a:rPr>
              <a:t>Ensaios de Imunidade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Descargas Eletrostáticas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Campos Eletromagnéticos Radiados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Perturbações Conduzidas em Radiofrequência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Transientes e Surtos Elétricos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Campos Magnéticos de Baixa Frequência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Variações, Quedas e Interrupções de Tensão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Qualidade de Energia (Harmônicos e Inter-Harmônicos)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0649C42-0B5C-41B0-A40F-E96FCBA09B0F}"/>
              </a:ext>
            </a:extLst>
          </p:cNvPr>
          <p:cNvSpPr txBox="1"/>
          <p:nvPr/>
        </p:nvSpPr>
        <p:spPr>
          <a:xfrm>
            <a:off x="7885051" y="3911157"/>
            <a:ext cx="4266536" cy="1410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</a:schemeClr>
                </a:solidFill>
              </a:rPr>
              <a:t>Ensaios de Emissão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Descarga Emissões Radiadas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Emissões Conduzidas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Correntes Harmônicas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Flutuação de Tensão (Flicker)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3FB47F64-4D68-4B06-A7B4-300453547E4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1249" t="59014"/>
          <a:stretch/>
        </p:blipFill>
        <p:spPr>
          <a:xfrm>
            <a:off x="7506010" y="3234456"/>
            <a:ext cx="481404" cy="540000"/>
          </a:xfrm>
          <a:prstGeom prst="rect">
            <a:avLst/>
          </a:prstGeom>
          <a:ln>
            <a:noFill/>
          </a:ln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2FAB29D5-F21A-4066-93D1-2A2987EA64D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9024" r="22677" b="59014"/>
          <a:stretch/>
        </p:blipFill>
        <p:spPr>
          <a:xfrm>
            <a:off x="7512515" y="2879185"/>
            <a:ext cx="473838" cy="540000"/>
          </a:xfrm>
          <a:prstGeom prst="rect">
            <a:avLst/>
          </a:prstGeom>
          <a:ln>
            <a:noFill/>
          </a:ln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18DEB288-D9E2-4D60-9BEB-FD6B49B5A80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1249" t="-253" b="59267"/>
          <a:stretch/>
        </p:blipFill>
        <p:spPr>
          <a:xfrm>
            <a:off x="7508939" y="2504622"/>
            <a:ext cx="481404" cy="540000"/>
          </a:xfrm>
          <a:prstGeom prst="rect">
            <a:avLst/>
          </a:prstGeom>
          <a:ln>
            <a:noFill/>
          </a:ln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B494A06F-B426-463A-9BBA-E748F88FA45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5704" t="-572" r="45545" b="59586"/>
          <a:stretch/>
        </p:blipFill>
        <p:spPr>
          <a:xfrm>
            <a:off x="7506010" y="2164276"/>
            <a:ext cx="481404" cy="540000"/>
          </a:xfrm>
          <a:prstGeom prst="rect">
            <a:avLst/>
          </a:prstGeom>
          <a:ln>
            <a:noFill/>
          </a:ln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0573596-6FEE-415E-A273-EFBECA059E2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71250" b="58950"/>
          <a:stretch/>
        </p:blipFill>
        <p:spPr>
          <a:xfrm>
            <a:off x="7503081" y="1783553"/>
            <a:ext cx="480654" cy="540000"/>
          </a:xfrm>
          <a:prstGeom prst="rect">
            <a:avLst/>
          </a:prstGeom>
          <a:ln>
            <a:noFill/>
          </a:ln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612E6465-065D-403B-A19B-A1E2BF2B214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75" t="59471" r="70874" b="-457"/>
          <a:stretch/>
        </p:blipFill>
        <p:spPr>
          <a:xfrm>
            <a:off x="7502331" y="4171381"/>
            <a:ext cx="481404" cy="540000"/>
          </a:xfrm>
          <a:prstGeom prst="rect">
            <a:avLst/>
          </a:prstGeom>
          <a:ln>
            <a:noFill/>
          </a:ln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0234873F-0F9F-4E17-8DD2-36DB17F2E4E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4715" t="59014" r="46534"/>
          <a:stretch/>
        </p:blipFill>
        <p:spPr>
          <a:xfrm>
            <a:off x="7502331" y="4505253"/>
            <a:ext cx="481404" cy="540000"/>
          </a:xfrm>
          <a:prstGeom prst="rect">
            <a:avLst/>
          </a:prstGeom>
          <a:ln>
            <a:noFill/>
          </a:ln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AA10DE83-9634-4027-89E4-3F1BE87AC9E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077" t="54702" r="23172" b="4312"/>
          <a:stretch/>
        </p:blipFill>
        <p:spPr>
          <a:xfrm>
            <a:off x="7502331" y="4790901"/>
            <a:ext cx="481404" cy="540000"/>
          </a:xfrm>
          <a:prstGeom prst="rect">
            <a:avLst/>
          </a:prstGeom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CE89868-4BC4-4FB9-8B82-9D660A6B92A2}"/>
              </a:ext>
            </a:extLst>
          </p:cNvPr>
          <p:cNvSpPr txBox="1"/>
          <p:nvPr/>
        </p:nvSpPr>
        <p:spPr>
          <a:xfrm>
            <a:off x="11099849" y="5506714"/>
            <a:ext cx="12406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Para mais informações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8EAD044-18BC-44A1-9763-EE705D3AC43B}"/>
              </a:ext>
            </a:extLst>
          </p:cNvPr>
          <p:cNvSpPr txBox="1"/>
          <p:nvPr/>
        </p:nvSpPr>
        <p:spPr>
          <a:xfrm>
            <a:off x="8789440" y="5806329"/>
            <a:ext cx="24862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Marcelo Dias</a:t>
            </a:r>
            <a:b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(11) 3767-4836 (11) 95500-1539</a:t>
            </a:r>
            <a:b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www.ipt.br – mdias@ipt.br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DD38A3D-8F70-4B28-A24C-A4947F6AF7FF}"/>
              </a:ext>
            </a:extLst>
          </p:cNvPr>
          <p:cNvCxnSpPr>
            <a:cxnSpLocks/>
          </p:cNvCxnSpPr>
          <p:nvPr/>
        </p:nvCxnSpPr>
        <p:spPr>
          <a:xfrm flipV="1">
            <a:off x="11323698" y="5873750"/>
            <a:ext cx="0" cy="756991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911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">
            <a:extLst>
              <a:ext uri="{FF2B5EF4-FFF2-40B4-BE49-F238E27FC236}">
                <a16:creationId xmlns:a16="http://schemas.microsoft.com/office/drawing/2014/main" id="{E02875A1-8A8A-4355-A5ED-CC2156742B2B}"/>
              </a:ext>
            </a:extLst>
          </p:cNvPr>
          <p:cNvSpPr txBox="1"/>
          <p:nvPr/>
        </p:nvSpPr>
        <p:spPr>
          <a:xfrm>
            <a:off x="438912" y="387173"/>
            <a:ext cx="731931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3600" b="1" dirty="0">
                <a:solidFill>
                  <a:srgbClr val="005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Compatibilidade Eletromagnética </a:t>
            </a:r>
            <a:r>
              <a:rPr sz="3600" b="1" dirty="0">
                <a:solidFill>
                  <a:srgbClr val="005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CD3782F4-B339-4F2D-A076-BD38C6F89D21}"/>
              </a:ext>
            </a:extLst>
          </p:cNvPr>
          <p:cNvSpPr/>
          <p:nvPr/>
        </p:nvSpPr>
        <p:spPr>
          <a:xfrm>
            <a:off x="7409248" y="3941892"/>
            <a:ext cx="247652" cy="1470024"/>
          </a:xfrm>
          <a:prstGeom prst="roundRect">
            <a:avLst>
              <a:gd name="adj" fmla="val 31689"/>
            </a:avLst>
          </a:prstGeom>
          <a:solidFill>
            <a:srgbClr val="4A7EBB"/>
          </a:solidFill>
          <a:ln w="88900"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56FD701D-41D0-45E4-96B2-A58C6565B5FA}"/>
              </a:ext>
            </a:extLst>
          </p:cNvPr>
          <p:cNvSpPr txBox="1"/>
          <p:nvPr/>
        </p:nvSpPr>
        <p:spPr>
          <a:xfrm>
            <a:off x="478778" y="950829"/>
            <a:ext cx="11088382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00588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Instituto de Pesquisas Tecnológicas do Estado de São Paulo S.A. – IPT </a:t>
            </a:r>
            <a:r>
              <a:rPr lang="pt-BR" sz="1000" dirty="0">
                <a:solidFill>
                  <a:srgbClr val="00588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 Unidade Energia | </a:t>
            </a:r>
            <a:r>
              <a:rPr sz="1100" dirty="0">
                <a:solidFill>
                  <a:srgbClr val="00588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Laboratório</a:t>
            </a:r>
            <a:r>
              <a:rPr sz="1000" dirty="0">
                <a:solidFill>
                  <a:srgbClr val="00588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de Usos </a:t>
            </a:r>
            <a:r>
              <a:rPr lang="pt-BR" sz="1000" dirty="0">
                <a:solidFill>
                  <a:srgbClr val="00588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Finais</a:t>
            </a:r>
            <a:r>
              <a:rPr sz="1000" dirty="0">
                <a:solidFill>
                  <a:srgbClr val="00588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 Gestão de </a:t>
            </a:r>
            <a:r>
              <a:rPr lang="pt-BR" sz="1000" dirty="0">
                <a:solidFill>
                  <a:srgbClr val="00588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Energia – LGE</a:t>
            </a:r>
            <a:endParaRPr sz="1000" dirty="0">
              <a:solidFill>
                <a:srgbClr val="00588E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7CADC7E3-86FE-4A52-8101-9E84EBDE1717}"/>
              </a:ext>
            </a:extLst>
          </p:cNvPr>
          <p:cNvSpPr txBox="1"/>
          <p:nvPr/>
        </p:nvSpPr>
        <p:spPr>
          <a:xfrm>
            <a:off x="6904757" y="6581001"/>
            <a:ext cx="394319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/>
              <a:t>Laboratório </a:t>
            </a:r>
            <a:r>
              <a:rPr lang="pt-BR" sz="1200" dirty="0"/>
              <a:t>acreditado</a:t>
            </a:r>
            <a:r>
              <a:rPr sz="1200" dirty="0"/>
              <a:t> ABNT NBR ISO/IEC 17025 | CRL 0045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1765FBFF-E951-473C-8CC1-2CFFE5795671}"/>
              </a:ext>
            </a:extLst>
          </p:cNvPr>
          <p:cNvSpPr txBox="1"/>
          <p:nvPr/>
        </p:nvSpPr>
        <p:spPr>
          <a:xfrm>
            <a:off x="7925467" y="6353741"/>
            <a:ext cx="28461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pt-BR" sz="1200" b="1" dirty="0">
                <a:solidFill>
                  <a:srgbClr val="0F2D55"/>
                </a:solidFill>
              </a:rPr>
              <a:t>Consulte</a:t>
            </a:r>
            <a:r>
              <a:rPr sz="1200" b="1" dirty="0">
                <a:solidFill>
                  <a:srgbClr val="0F2D55"/>
                </a:solidFill>
              </a:rPr>
              <a:t> o IPT para ensaios e </a:t>
            </a:r>
            <a:r>
              <a:rPr lang="pt-BR" sz="1200" b="1" dirty="0">
                <a:solidFill>
                  <a:srgbClr val="0F2D55"/>
                </a:solidFill>
              </a:rPr>
              <a:t>qualificação</a:t>
            </a:r>
            <a:endParaRPr sz="1200" b="1" dirty="0">
              <a:solidFill>
                <a:srgbClr val="0F2D55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8ECC341-16C9-4828-B528-A5FD746D3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1752" y="5681982"/>
            <a:ext cx="720000" cy="70391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E4DA1B0-362A-4C9B-9D73-42FFE716A77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1399"/>
          <a:stretch/>
        </p:blipFill>
        <p:spPr>
          <a:xfrm>
            <a:off x="7649799" y="290788"/>
            <a:ext cx="900000" cy="685744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A315E07-AD31-4E91-B67F-C6A16FBF7E67}"/>
              </a:ext>
            </a:extLst>
          </p:cNvPr>
          <p:cNvSpPr/>
          <p:nvPr/>
        </p:nvSpPr>
        <p:spPr>
          <a:xfrm>
            <a:off x="7402147" y="1579786"/>
            <a:ext cx="247652" cy="2138774"/>
          </a:xfrm>
          <a:prstGeom prst="roundRect">
            <a:avLst>
              <a:gd name="adj" fmla="val 31689"/>
            </a:avLst>
          </a:prstGeom>
          <a:solidFill>
            <a:srgbClr val="4A7EBB"/>
          </a:solidFill>
          <a:ln w="88900"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Superiores Arredondados 18">
            <a:extLst>
              <a:ext uri="{FF2B5EF4-FFF2-40B4-BE49-F238E27FC236}">
                <a16:creationId xmlns:a16="http://schemas.microsoft.com/office/drawing/2014/main" id="{0A673BF8-DB93-4AC4-B44C-56EEE6FE09BB}"/>
              </a:ext>
            </a:extLst>
          </p:cNvPr>
          <p:cNvSpPr/>
          <p:nvPr/>
        </p:nvSpPr>
        <p:spPr>
          <a:xfrm rot="16200000">
            <a:off x="8713076" y="268137"/>
            <a:ext cx="2210861" cy="4746988"/>
          </a:xfrm>
          <a:prstGeom prst="round2SameRect">
            <a:avLst>
              <a:gd name="adj1" fmla="val 6982"/>
              <a:gd name="adj2" fmla="val 0"/>
            </a:avLst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Retângulo: Cantos Superiores Arredondados 23">
            <a:extLst>
              <a:ext uri="{FF2B5EF4-FFF2-40B4-BE49-F238E27FC236}">
                <a16:creationId xmlns:a16="http://schemas.microsoft.com/office/drawing/2014/main" id="{D5396495-25B1-4EE7-AB3F-65A72FF34025}"/>
              </a:ext>
            </a:extLst>
          </p:cNvPr>
          <p:cNvSpPr/>
          <p:nvPr/>
        </p:nvSpPr>
        <p:spPr>
          <a:xfrm rot="16200000">
            <a:off x="9052380" y="2304883"/>
            <a:ext cx="1549401" cy="4744039"/>
          </a:xfrm>
          <a:prstGeom prst="round2SameRect">
            <a:avLst>
              <a:gd name="adj1" fmla="val 6982"/>
              <a:gd name="adj2" fmla="val 0"/>
            </a:avLst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DF11F0A-8FC4-4161-994F-20EDDE9A1037}"/>
              </a:ext>
            </a:extLst>
          </p:cNvPr>
          <p:cNvSpPr txBox="1"/>
          <p:nvPr/>
        </p:nvSpPr>
        <p:spPr>
          <a:xfrm>
            <a:off x="7925465" y="1536200"/>
            <a:ext cx="4266536" cy="2210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</a:schemeClr>
                </a:solidFill>
              </a:rPr>
              <a:t>Ensaios de Imunidade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Descargas Eletrostáticas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Campos Eletromagnéticos Radiados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Perturbações Conduzidas em Radiofrequência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Transientes e Surtos Elétricos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Campos Magnéticos de Baixa Frequência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Variações, Quedas e Interrupções de Tensão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Qualidade de Energia (Harmônicos e Inter-Harmônicos)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0649C42-0B5C-41B0-A40F-E96FCBA09B0F}"/>
              </a:ext>
            </a:extLst>
          </p:cNvPr>
          <p:cNvSpPr txBox="1"/>
          <p:nvPr/>
        </p:nvSpPr>
        <p:spPr>
          <a:xfrm>
            <a:off x="7885051" y="3911157"/>
            <a:ext cx="4266536" cy="1410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</a:schemeClr>
                </a:solidFill>
              </a:rPr>
              <a:t>Ensaios de Emissão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Descarga Emissões Radiadas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Emissões Conduzidas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Correntes Harmônicas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400" b="1" dirty="0"/>
              <a:t>Flutuação de Tensão (Flicker)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3FB47F64-4D68-4B06-A7B4-300453547E4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1249" t="59014"/>
          <a:stretch/>
        </p:blipFill>
        <p:spPr>
          <a:xfrm>
            <a:off x="7506010" y="3234456"/>
            <a:ext cx="481404" cy="540000"/>
          </a:xfrm>
          <a:prstGeom prst="rect">
            <a:avLst/>
          </a:prstGeom>
          <a:ln>
            <a:noFill/>
          </a:ln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2FAB29D5-F21A-4066-93D1-2A2987EA64D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024" r="22677" b="59014"/>
          <a:stretch/>
        </p:blipFill>
        <p:spPr>
          <a:xfrm>
            <a:off x="7512515" y="2879185"/>
            <a:ext cx="473838" cy="540000"/>
          </a:xfrm>
          <a:prstGeom prst="rect">
            <a:avLst/>
          </a:prstGeom>
          <a:ln>
            <a:noFill/>
          </a:ln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18DEB288-D9E2-4D60-9BEB-FD6B49B5A80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1249" t="-253" b="59267"/>
          <a:stretch/>
        </p:blipFill>
        <p:spPr>
          <a:xfrm>
            <a:off x="7508939" y="2504622"/>
            <a:ext cx="481404" cy="540000"/>
          </a:xfrm>
          <a:prstGeom prst="rect">
            <a:avLst/>
          </a:prstGeom>
          <a:ln>
            <a:noFill/>
          </a:ln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B494A06F-B426-463A-9BBA-E748F88FA45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704" t="-572" r="45545" b="59586"/>
          <a:stretch/>
        </p:blipFill>
        <p:spPr>
          <a:xfrm>
            <a:off x="7506010" y="2164276"/>
            <a:ext cx="481404" cy="540000"/>
          </a:xfrm>
          <a:prstGeom prst="rect">
            <a:avLst/>
          </a:prstGeom>
          <a:ln>
            <a:noFill/>
          </a:ln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0573596-6FEE-415E-A273-EFBECA059E2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1250" b="58950"/>
          <a:stretch/>
        </p:blipFill>
        <p:spPr>
          <a:xfrm>
            <a:off x="7503081" y="1783553"/>
            <a:ext cx="480654" cy="540000"/>
          </a:xfrm>
          <a:prstGeom prst="rect">
            <a:avLst/>
          </a:prstGeom>
          <a:ln>
            <a:noFill/>
          </a:ln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612E6465-065D-403B-A19B-A1E2BF2B214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75" t="59471" r="70874" b="-457"/>
          <a:stretch/>
        </p:blipFill>
        <p:spPr>
          <a:xfrm>
            <a:off x="7502331" y="4171381"/>
            <a:ext cx="481404" cy="540000"/>
          </a:xfrm>
          <a:prstGeom prst="rect">
            <a:avLst/>
          </a:prstGeom>
          <a:ln>
            <a:noFill/>
          </a:ln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0234873F-0F9F-4E17-8DD2-36DB17F2E4E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715" t="59014" r="46534"/>
          <a:stretch/>
        </p:blipFill>
        <p:spPr>
          <a:xfrm>
            <a:off x="7502331" y="4505253"/>
            <a:ext cx="481404" cy="540000"/>
          </a:xfrm>
          <a:prstGeom prst="rect">
            <a:avLst/>
          </a:prstGeom>
          <a:ln>
            <a:noFill/>
          </a:ln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AA10DE83-9634-4027-89E4-3F1BE87AC9E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077" t="54702" r="23172" b="4312"/>
          <a:stretch/>
        </p:blipFill>
        <p:spPr>
          <a:xfrm>
            <a:off x="7502331" y="4790901"/>
            <a:ext cx="481404" cy="540000"/>
          </a:xfrm>
          <a:prstGeom prst="rect">
            <a:avLst/>
          </a:prstGeom>
          <a:ln>
            <a:noFill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8EAD044-18BC-44A1-9763-EE705D3AC43B}"/>
              </a:ext>
            </a:extLst>
          </p:cNvPr>
          <p:cNvSpPr txBox="1"/>
          <p:nvPr/>
        </p:nvSpPr>
        <p:spPr>
          <a:xfrm>
            <a:off x="8752116" y="5806329"/>
            <a:ext cx="25235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Marcelo Dias</a:t>
            </a:r>
            <a:b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(11) 3767-4836 (11) 95500-1539</a:t>
            </a:r>
            <a:b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www.ipt.br – mdias@ipt.br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DD38A3D-8F70-4B28-A24C-A4947F6AF7FF}"/>
              </a:ext>
            </a:extLst>
          </p:cNvPr>
          <p:cNvCxnSpPr>
            <a:cxnSpLocks/>
          </p:cNvCxnSpPr>
          <p:nvPr/>
        </p:nvCxnSpPr>
        <p:spPr>
          <a:xfrm flipV="1">
            <a:off x="11323698" y="5873750"/>
            <a:ext cx="0" cy="756991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Imagem 30">
            <a:extLst>
              <a:ext uri="{FF2B5EF4-FFF2-40B4-BE49-F238E27FC236}">
                <a16:creationId xmlns:a16="http://schemas.microsoft.com/office/drawing/2014/main" id="{15FE46F6-BC6C-43BD-8918-D45B5834A7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425" y="3929834"/>
            <a:ext cx="2880000" cy="2160000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9D78A7B5-F4B6-483E-954A-69DDF59C6B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4425" y="1536200"/>
            <a:ext cx="2880000" cy="2314332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0540586C-7E1C-4A84-8D88-5C4071C7F4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311" y="1490633"/>
            <a:ext cx="2880000" cy="2314332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065EC488-80AF-4A08-8505-5FDE84EFC3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11" y="3929834"/>
            <a:ext cx="2880000" cy="2160000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0D838FE5-1FB4-400F-94E3-BED8F3846173}"/>
              </a:ext>
            </a:extLst>
          </p:cNvPr>
          <p:cNvSpPr txBox="1"/>
          <p:nvPr/>
        </p:nvSpPr>
        <p:spPr>
          <a:xfrm>
            <a:off x="11099849" y="5506714"/>
            <a:ext cx="12406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Para mais informações</a:t>
            </a:r>
          </a:p>
        </p:txBody>
      </p:sp>
    </p:spTree>
    <p:extLst>
      <p:ext uri="{BB962C8B-B14F-4D97-AF65-F5344CB8AC3E}">
        <p14:creationId xmlns:p14="http://schemas.microsoft.com/office/powerpoint/2010/main" val="1376684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259</Words>
  <Application>Microsoft Office PowerPoint</Application>
  <PresentationFormat>Widescreen</PresentationFormat>
  <Paragraphs>40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Segoe UI Semibold</vt:lpstr>
      <vt:lpstr>Times New Roman</vt:lpstr>
      <vt:lpstr>Office Theme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Felipe de Oliveira (FIPT)</dc:creator>
  <cp:keywords/>
  <dc:description>generated using python-pptx</dc:description>
  <cp:lastModifiedBy>Felipe de Oliveira (FIPT)</cp:lastModifiedBy>
  <cp:revision>27</cp:revision>
  <cp:lastPrinted>2026-04-28T19:41:20Z</cp:lastPrinted>
  <dcterms:created xsi:type="dcterms:W3CDTF">2013-01-27T09:14:16Z</dcterms:created>
  <dcterms:modified xsi:type="dcterms:W3CDTF">2026-04-29T16:52:53Z</dcterms:modified>
  <cp:category/>
</cp:coreProperties>
</file>