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8323" userDrawn="1">
          <p15:clr>
            <a:srgbClr val="A4A3A4"/>
          </p15:clr>
        </p15:guide>
        <p15:guide id="4" orient="horz" pos="26861" userDrawn="1">
          <p15:clr>
            <a:srgbClr val="A4A3A4"/>
          </p15:clr>
        </p15:guide>
        <p15:guide id="5" pos="793" userDrawn="1">
          <p15:clr>
            <a:srgbClr val="A4A3A4"/>
          </p15:clr>
        </p15:guide>
        <p15:guide id="6" pos="17689" userDrawn="1">
          <p15:clr>
            <a:srgbClr val="A4A3A4"/>
          </p15:clr>
        </p15:guide>
        <p15:guide id="7" orient="horz" pos="4535" userDrawn="1">
          <p15:clr>
            <a:srgbClr val="A4A3A4"/>
          </p15:clr>
        </p15:guide>
        <p15:guide id="9" orient="horz" pos="4829" userDrawn="1">
          <p15:clr>
            <a:srgbClr val="A4A3A4"/>
          </p15:clr>
        </p15:guide>
        <p15:guide id="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EC3042-9589-4070-9E89-CF92689F4F3C}" v="4" dt="2025-09-10T12:58:17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17" autoAdjust="0"/>
  </p:normalViewPr>
  <p:slideViewPr>
    <p:cSldViewPr snapToGrid="0">
      <p:cViewPr>
        <p:scale>
          <a:sx n="25" d="100"/>
          <a:sy n="25" d="100"/>
        </p:scale>
        <p:origin x="18" y="90"/>
      </p:cViewPr>
      <p:guideLst>
        <p:guide pos="8323"/>
        <p:guide orient="horz" pos="26861"/>
        <p:guide pos="793"/>
        <p:guide pos="17689"/>
        <p:guide orient="horz" pos="4535"/>
        <p:guide orient="horz" pos="482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D6998-0848-3A44-BD1F-0518834A859F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8A2D7-EE03-1348-AC6B-1B769FA7541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934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1pPr>
    <a:lvl2pPr marL="1727987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2pPr>
    <a:lvl3pPr marL="3455975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3pPr>
    <a:lvl4pPr marL="5183962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4pPr>
    <a:lvl5pPr marL="6911950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5pPr>
    <a:lvl6pPr marL="8639937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6pPr>
    <a:lvl7pPr marL="10367924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7pPr>
    <a:lvl8pPr marL="12095912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8pPr>
    <a:lvl9pPr marL="13823899" algn="l" defTabSz="3455975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8A2D7-EE03-1348-AC6B-1B769FA75413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858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988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338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358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49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9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096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661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760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618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069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87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5ABE8-3A8E-FF4B-AAAF-F415F0D17EC4}" type="datetimeFigureOut">
              <a:rPr lang="pt-BR" smtClean="0"/>
              <a:t>17/10/2025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7927E-885D-8E4B-B51E-DF8AD39F777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06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aixaDeTexto 78">
            <a:extLst>
              <a:ext uri="{FF2B5EF4-FFF2-40B4-BE49-F238E27FC236}">
                <a16:creationId xmlns:a16="http://schemas.microsoft.com/office/drawing/2014/main" id="{95FCB300-4C17-42CE-AA91-C05383C23148}"/>
              </a:ext>
            </a:extLst>
          </p:cNvPr>
          <p:cNvSpPr txBox="1"/>
          <p:nvPr/>
        </p:nvSpPr>
        <p:spPr>
          <a:xfrm>
            <a:off x="1271835" y="7615351"/>
            <a:ext cx="26388592" cy="6432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" name="Imagem 63">
            <a:extLst>
              <a:ext uri="{FF2B5EF4-FFF2-40B4-BE49-F238E27FC236}">
                <a16:creationId xmlns:a16="http://schemas.microsoft.com/office/drawing/2014/main" id="{F300541F-8395-4160-93C7-4D5E91EB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84" y="32531247"/>
            <a:ext cx="5760000" cy="3808151"/>
          </a:xfrm>
          <a:prstGeom prst="rect">
            <a:avLst/>
          </a:prstGeom>
          <a:ln>
            <a:noFill/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9E8A536-DFF4-C85C-8F41-EA58AD211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035" y="766448"/>
            <a:ext cx="2794827" cy="3419117"/>
          </a:xfrm>
          <a:prstGeom prst="rect">
            <a:avLst/>
          </a:prstGeom>
          <a:ln>
            <a:noFill/>
          </a:ln>
        </p:spPr>
      </p:pic>
      <p:pic>
        <p:nvPicPr>
          <p:cNvPr id="6" name="Imagem 5" descr="Texto&#10;&#10;Descrição gerada automaticamente com confiança baixa">
            <a:extLst>
              <a:ext uri="{FF2B5EF4-FFF2-40B4-BE49-F238E27FC236}">
                <a16:creationId xmlns:a16="http://schemas.microsoft.com/office/drawing/2014/main" id="{0E58CEE3-C0D0-86D5-7B1F-7BAE3C5D5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2227" y="-456078"/>
            <a:ext cx="6976402" cy="4935741"/>
          </a:xfrm>
          <a:prstGeom prst="rect">
            <a:avLst/>
          </a:prstGeom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367E352-6EB8-6C96-124F-32AF5A7F9FC8}"/>
              </a:ext>
            </a:extLst>
          </p:cNvPr>
          <p:cNvSpPr txBox="1"/>
          <p:nvPr/>
        </p:nvSpPr>
        <p:spPr>
          <a:xfrm>
            <a:off x="3961289" y="1743009"/>
            <a:ext cx="1967498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I CONGRESSO DE MODELAGEM, SIMULAÇÃO COMPUTACIONAL E IA DO IPT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675A0A-E7FC-F8B3-69C1-0AEEF535F822}"/>
              </a:ext>
            </a:extLst>
          </p:cNvPr>
          <p:cNvSpPr txBox="1"/>
          <p:nvPr/>
        </p:nvSpPr>
        <p:spPr>
          <a:xfrm>
            <a:off x="3961290" y="3279938"/>
            <a:ext cx="20877846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SIMULAÇÃO E VALIDAÇÃO EXPERIMENTAL DE UM SISTEMA OSCILADOR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B3530AF6-6E8E-85A1-E652-B5A07C60675E}"/>
              </a:ext>
            </a:extLst>
          </p:cNvPr>
          <p:cNvSpPr txBox="1"/>
          <p:nvPr/>
        </p:nvSpPr>
        <p:spPr>
          <a:xfrm>
            <a:off x="0" y="5142325"/>
            <a:ext cx="28800422" cy="12003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 sz="3600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 O Benson, M F Barbosa, I Gonçales e M </a:t>
            </a:r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S M Dias </a:t>
            </a:r>
            <a:br>
              <a:rPr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Instituto de Pesquisa Tecnológica do Estado de São Paulo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1E4035-20E2-6593-3536-EDC18A3EDAD6}"/>
              </a:ext>
            </a:extLst>
          </p:cNvPr>
          <p:cNvSpPr/>
          <p:nvPr/>
        </p:nvSpPr>
        <p:spPr>
          <a:xfrm>
            <a:off x="1348035" y="6459903"/>
            <a:ext cx="26186889" cy="669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DDE247-CD61-1704-6900-17B93EE78D6B}"/>
              </a:ext>
            </a:extLst>
          </p:cNvPr>
          <p:cNvSpPr/>
          <p:nvPr/>
        </p:nvSpPr>
        <p:spPr>
          <a:xfrm rot="16200000">
            <a:off x="-2501394" y="24511145"/>
            <a:ext cx="33871477" cy="682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F2FDCC-6E04-26CC-9E5B-DF9AD8E77CC8}"/>
              </a:ext>
            </a:extLst>
          </p:cNvPr>
          <p:cNvSpPr txBox="1"/>
          <p:nvPr/>
        </p:nvSpPr>
        <p:spPr>
          <a:xfrm>
            <a:off x="1259148" y="7613974"/>
            <a:ext cx="119472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A80443-0B98-82C6-AB5A-AB7C807D6F03}"/>
              </a:ext>
            </a:extLst>
          </p:cNvPr>
          <p:cNvSpPr txBox="1"/>
          <p:nvPr/>
        </p:nvSpPr>
        <p:spPr>
          <a:xfrm>
            <a:off x="1265498" y="8447199"/>
            <a:ext cx="11912617" cy="64940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Os circuitos eletrônicos desempenham um papel essencial na tecnologia moderna, possibilitando o controle e a transmissão de sinais elétricos [1].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Dentro desse contexto, os osciladores se destacam como geradores de sinais periódicos, muito utilizados em comunicação [2], instrumentação e temporização.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Entre as diferentes topologias, o oscilador LC é amplamente aplicado devido à sua simplicidade e eficiência. O oscilador Hartley [3], uma topologia clássica, utiliza bobina fracionada e capacitor em seu circuito tanque, fornecendo a realimentação positiva necessária. Sua frequência depende de elementos reativos, apresenta boa estabilidade e é indicado para aplicações didáticas e de baixo custo.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8E88DD4-FEF2-CA38-DFB3-E302349B8AA3}"/>
              </a:ext>
            </a:extLst>
          </p:cNvPr>
          <p:cNvSpPr txBox="1"/>
          <p:nvPr/>
        </p:nvSpPr>
        <p:spPr>
          <a:xfrm>
            <a:off x="1263912" y="15127348"/>
            <a:ext cx="118948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919579B-CF51-1F57-C083-C1A212E8AB90}"/>
              </a:ext>
            </a:extLst>
          </p:cNvPr>
          <p:cNvSpPr txBox="1"/>
          <p:nvPr/>
        </p:nvSpPr>
        <p:spPr>
          <a:xfrm>
            <a:off x="1263911" y="15966921"/>
            <a:ext cx="11944090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Desenvolver, simular e validar experimentalmente um circuito oscilador, utilizando ferramentas de software para análise do circuito e testes em bancada, a fim de comprovar sua eficiência e confiabilidade.</a:t>
            </a:r>
            <a:endParaRPr lang="pt-BR" sz="3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CE4C8B-71D7-8DB8-4951-535A6C6F65BB}"/>
              </a:ext>
            </a:extLst>
          </p:cNvPr>
          <p:cNvSpPr txBox="1"/>
          <p:nvPr/>
        </p:nvSpPr>
        <p:spPr>
          <a:xfrm>
            <a:off x="1263650" y="18214175"/>
            <a:ext cx="1194911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7E3B33-3413-2EF9-3256-41CBB16185F7}"/>
              </a:ext>
            </a:extLst>
          </p:cNvPr>
          <p:cNvSpPr txBox="1"/>
          <p:nvPr/>
        </p:nvSpPr>
        <p:spPr>
          <a:xfrm>
            <a:off x="1263911" y="19047863"/>
            <a:ext cx="11944090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circuito oscilador Hartley foi modelado como um circuito LC ressonante acoplado a um estágio ativo, responsável por fornecer o ganho necessário para compensar as perdas do tanque. A frequência de oscilação depende da capacitância e da indutância equivalente do circuito, podendo ser determinada pela equação abaixo.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522EAFD-86A0-BCAA-D85A-C3EB744D0C48}"/>
              </a:ext>
            </a:extLst>
          </p:cNvPr>
          <p:cNvSpPr txBox="1"/>
          <p:nvPr/>
        </p:nvSpPr>
        <p:spPr>
          <a:xfrm>
            <a:off x="15709110" y="13819018"/>
            <a:ext cx="1189487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Resultados e Discussão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C153E2-778C-A478-8404-DEBA15EB8BB6}"/>
              </a:ext>
            </a:extLst>
          </p:cNvPr>
          <p:cNvSpPr txBox="1"/>
          <p:nvPr/>
        </p:nvSpPr>
        <p:spPr>
          <a:xfrm>
            <a:off x="15708315" y="14655382"/>
            <a:ext cx="11944089" cy="69865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Após a simulação do circuito no LTspice e a criação da placa do circuito impresso (PCI) no KiCad, a versão física da placa foi confeccionada no laboratório de prototipagem. Os componentes foram então soldados na PCI, conforme ilustrado na Figura 5, e o protótipo montado foi testado em bancada. 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a realização das medições corretas, foram utilizados os equipamentos devidamente calibrados que possibilitaram a verificação do funcionamento do oscilador e amplitude da senoide gerada, conforme mostrado na Figura 6. A partir da realização dos testes, foi possível notar a mesma situação obtida na simulação do circuito e o funcionamento do circuito testado. 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Verificou-se, durante a execução dos testes, o funcionamento do circuito e a eficiência da topologia, visto que o sistema funcionou conforme o esperado.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416A8F-673E-9F2C-F7DB-4EF3C863EE1E}"/>
              </a:ext>
            </a:extLst>
          </p:cNvPr>
          <p:cNvSpPr txBox="1"/>
          <p:nvPr/>
        </p:nvSpPr>
        <p:spPr>
          <a:xfrm>
            <a:off x="15709903" y="31709386"/>
            <a:ext cx="118948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8C3984-08BF-FC44-3742-9C1E090D6C83}"/>
              </a:ext>
            </a:extLst>
          </p:cNvPr>
          <p:cNvSpPr txBox="1"/>
          <p:nvPr/>
        </p:nvSpPr>
        <p:spPr>
          <a:xfrm>
            <a:off x="15709903" y="32556546"/>
            <a:ext cx="11944090" cy="550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[1] LIU JQ, WANG L, PU YQ, LI JL-W, KANG K, A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magnetically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resonant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coupling system for wireless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transmission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Proc. Int. Conf.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Microw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Millim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Wave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Technol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(ICMMT), p. 1–4, 2012. doi:10.1109/ICMMT.2012.6230316.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[2] PRAUZEK M, KONECNY J, VENCLIKOVA M, BARANEK V, NFC interface for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standalone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data acquisition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IFAC-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PapersOnLine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v. 49, n. 25, p. 437–441, 2016. doi:10.1016/j.ifacol.2016.12.051.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[3] IQBAL J, SHAHID A, KHAN H, MALIK S,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Robust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Colpitts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and Hartley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oscillator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design. Procedia Comput.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Sci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., v. 58, p. 627–632, 2015. doi:10.1016/j.procs.2015.08.082.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F0F108B-023D-5F28-1F3C-263D1017E436}"/>
              </a:ext>
            </a:extLst>
          </p:cNvPr>
          <p:cNvSpPr txBox="1"/>
          <p:nvPr/>
        </p:nvSpPr>
        <p:spPr>
          <a:xfrm>
            <a:off x="15708315" y="27612293"/>
            <a:ext cx="1189487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Conclusões 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0D03861-F0AF-BDED-8D4A-472BB7C3486D}"/>
              </a:ext>
            </a:extLst>
          </p:cNvPr>
          <p:cNvSpPr txBox="1"/>
          <p:nvPr/>
        </p:nvSpPr>
        <p:spPr>
          <a:xfrm>
            <a:off x="15708316" y="28461295"/>
            <a:ext cx="11944089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partir da realização das medidas feitas, foi possível observar a mesma condição obtida nas simulações e confirmar o funcionamento do circuito implementado. Com isso, demonstrou-se a capacidade de simular, projetar, construir, testar e validar todo o sistema eletrônico, comprovando a eficiência e a confiabilidade do projeto desenvolvido desde a simulação.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CE23D3C-CEDB-B88C-C430-020C523BB87E}"/>
              </a:ext>
            </a:extLst>
          </p:cNvPr>
          <p:cNvSpPr txBox="1"/>
          <p:nvPr/>
        </p:nvSpPr>
        <p:spPr>
          <a:xfrm>
            <a:off x="15709903" y="38267735"/>
            <a:ext cx="118948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Agradecimentos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D468086-43A8-D5E3-4361-CCE7DAAEBB35}"/>
              </a:ext>
            </a:extLst>
          </p:cNvPr>
          <p:cNvSpPr txBox="1"/>
          <p:nvPr/>
        </p:nvSpPr>
        <p:spPr>
          <a:xfrm>
            <a:off x="15709903" y="39113674"/>
            <a:ext cx="1194409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Agradecemos pelo suporte técnico e pela infraestrutura disponibilizada, além da colaboração dos colegas envolvidos na execução deste trabalho.</a:t>
            </a:r>
            <a:endParaRPr lang="pt-BR" sz="3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ACFF433-EF5A-4C9C-9DE7-509C792CEB5D}"/>
              </a:ext>
            </a:extLst>
          </p:cNvPr>
          <p:cNvSpPr txBox="1"/>
          <p:nvPr/>
        </p:nvSpPr>
        <p:spPr>
          <a:xfrm>
            <a:off x="1271489" y="36345745"/>
            <a:ext cx="576998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1.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Circuito oscilador Hartley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D73D360-C89C-4D55-A6F8-8C9B6F7CC9F4}"/>
              </a:ext>
            </a:extLst>
          </p:cNvPr>
          <p:cNvSpPr txBox="1"/>
          <p:nvPr/>
        </p:nvSpPr>
        <p:spPr>
          <a:xfrm>
            <a:off x="0" y="8260664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C6C77F6-4A87-4646-916D-F395BBB45806}"/>
              </a:ext>
            </a:extLst>
          </p:cNvPr>
          <p:cNvSpPr txBox="1"/>
          <p:nvPr/>
        </p:nvSpPr>
        <p:spPr>
          <a:xfrm>
            <a:off x="-1587" y="15779908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FC02653-7FF1-41CF-9F43-52260718CD2A}"/>
              </a:ext>
            </a:extLst>
          </p:cNvPr>
          <p:cNvSpPr txBox="1"/>
          <p:nvPr/>
        </p:nvSpPr>
        <p:spPr>
          <a:xfrm>
            <a:off x="-1848" y="14941267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890C9EC-03BA-4947-8801-E12CF0C96FD9}"/>
              </a:ext>
            </a:extLst>
          </p:cNvPr>
          <p:cNvSpPr txBox="1"/>
          <p:nvPr/>
        </p:nvSpPr>
        <p:spPr>
          <a:xfrm>
            <a:off x="-260" y="18029024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0F4DF3C-CCF4-4DEE-B558-DE427667EA24}"/>
              </a:ext>
            </a:extLst>
          </p:cNvPr>
          <p:cNvSpPr txBox="1"/>
          <p:nvPr/>
        </p:nvSpPr>
        <p:spPr>
          <a:xfrm>
            <a:off x="-677" y="18860663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D46842F-1A7A-4419-9D85-C3A95E32DEC6}"/>
              </a:ext>
            </a:extLst>
          </p:cNvPr>
          <p:cNvSpPr txBox="1"/>
          <p:nvPr/>
        </p:nvSpPr>
        <p:spPr>
          <a:xfrm>
            <a:off x="-1848" y="22094851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52B87F1A-C5B8-41D3-BBE9-31F3ABBC6D29}"/>
                  </a:ext>
                </a:extLst>
              </p:cNvPr>
              <p:cNvSpPr/>
              <p:nvPr/>
            </p:nvSpPr>
            <p:spPr>
              <a:xfrm>
                <a:off x="1263911" y="22281889"/>
                <a:ext cx="11944090" cy="122431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32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pt-BR" sz="32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pt-BR" sz="32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32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t-BR" sz="32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pt-BR" sz="32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pt-BR" sz="32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32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  <m:r>
                                <a:rPr lang="pt-BR" sz="32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32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𝑒𝑞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pt-BR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52B87F1A-C5B8-41D3-BBE9-31F3ABBC6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911" y="22281889"/>
                <a:ext cx="11944090" cy="12243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aixaDeTexto 58">
            <a:extLst>
              <a:ext uri="{FF2B5EF4-FFF2-40B4-BE49-F238E27FC236}">
                <a16:creationId xmlns:a16="http://schemas.microsoft.com/office/drawing/2014/main" id="{1D6960F7-5B0E-46EA-8AFF-C5578E9A46EC}"/>
              </a:ext>
            </a:extLst>
          </p:cNvPr>
          <p:cNvSpPr txBox="1"/>
          <p:nvPr/>
        </p:nvSpPr>
        <p:spPr>
          <a:xfrm>
            <a:off x="1263911" y="23505181"/>
            <a:ext cx="11944090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cs typeface="Arial" panose="020B0604020202020204" pitchFamily="34" charset="0"/>
              </a:rPr>
              <a:t>Onde:</a:t>
            </a:r>
          </a:p>
          <a:p>
            <a:pPr algn="just"/>
            <a:r>
              <a:rPr lang="pt-BR" sz="3200" dirty="0">
                <a:cs typeface="Arial" panose="020B0604020202020204" pitchFamily="34" charset="0"/>
              </a:rPr>
              <a:t>	F</a:t>
            </a:r>
            <a:r>
              <a:rPr lang="pt-BR" sz="3200" baseline="-25000" dirty="0">
                <a:cs typeface="Arial" panose="020B0604020202020204" pitchFamily="34" charset="0"/>
              </a:rPr>
              <a:t>0</a:t>
            </a:r>
            <a:r>
              <a:rPr lang="pt-BR" sz="3200" dirty="0">
                <a:cs typeface="Arial" panose="020B0604020202020204" pitchFamily="34" charset="0"/>
              </a:rPr>
              <a:t> é a frequência de oscilação (Hz);</a:t>
            </a:r>
          </a:p>
          <a:p>
            <a:pPr algn="just"/>
            <a:r>
              <a:rPr lang="pt-BR" sz="3200" dirty="0">
                <a:cs typeface="Arial" panose="020B0604020202020204" pitchFamily="34" charset="0"/>
              </a:rPr>
              <a:t>	C é a capacitância do tanque (F);</a:t>
            </a:r>
          </a:p>
          <a:p>
            <a:pPr algn="just"/>
            <a:r>
              <a:rPr lang="pt-BR" sz="3200" dirty="0"/>
              <a:t>	L</a:t>
            </a:r>
            <a:r>
              <a:rPr lang="pt-BR" sz="3200" baseline="-25000" dirty="0"/>
              <a:t>eq</a:t>
            </a:r>
            <a:r>
              <a:rPr lang="pt-BR" sz="3200" dirty="0"/>
              <a:t> é a indutância equivalente, dada </a:t>
            </a:r>
            <a:r>
              <a:rPr lang="pt-BR" sz="3200" dirty="0">
                <a:cs typeface="Arial" panose="020B0604020202020204" pitchFamily="34" charset="0"/>
              </a:rPr>
              <a:t>por</a:t>
            </a:r>
            <a:r>
              <a:rPr lang="pt-BR" sz="3200" dirty="0"/>
              <a:t>: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65ECD397-DFE6-4B9F-A3BE-21B68A24A139}"/>
              </a:ext>
            </a:extLst>
          </p:cNvPr>
          <p:cNvSpPr txBox="1"/>
          <p:nvPr/>
        </p:nvSpPr>
        <p:spPr>
          <a:xfrm>
            <a:off x="1263911" y="26189734"/>
            <a:ext cx="1194409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Onde:</a:t>
            </a:r>
          </a:p>
          <a:p>
            <a:pPr algn="just"/>
            <a:r>
              <a:rPr lang="pt-BR" sz="3200" dirty="0"/>
              <a:t>	L1 e L2 são os indutores da malha de realimentação;</a:t>
            </a:r>
          </a:p>
          <a:p>
            <a:pPr algn="just"/>
            <a:r>
              <a:rPr lang="pt-BR" sz="3200" dirty="0"/>
              <a:t>	M é o acoplamento mútuo quando aplicável.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33C983B7-2FBD-4255-8F7B-D5B88A7615F2}"/>
                  </a:ext>
                </a:extLst>
              </p:cNvPr>
              <p:cNvSpPr/>
              <p:nvPr/>
            </p:nvSpPr>
            <p:spPr>
              <a:xfrm>
                <a:off x="1263911" y="25567284"/>
                <a:ext cx="11944090" cy="62273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pt-BR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2+2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33C983B7-2FBD-4255-8F7B-D5B88A761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911" y="25567284"/>
                <a:ext cx="11944090" cy="6227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CaixaDeTexto 61">
            <a:extLst>
              <a:ext uri="{FF2B5EF4-FFF2-40B4-BE49-F238E27FC236}">
                <a16:creationId xmlns:a16="http://schemas.microsoft.com/office/drawing/2014/main" id="{52B32E38-5D90-4C30-9FA9-DE0BD588B10C}"/>
              </a:ext>
            </a:extLst>
          </p:cNvPr>
          <p:cNvSpPr txBox="1"/>
          <p:nvPr/>
        </p:nvSpPr>
        <p:spPr>
          <a:xfrm>
            <a:off x="-1848" y="28596878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ED1F9352-20AA-448A-8BA5-71A8B537CD5D}"/>
              </a:ext>
            </a:extLst>
          </p:cNvPr>
          <p:cNvSpPr txBox="1"/>
          <p:nvPr/>
        </p:nvSpPr>
        <p:spPr>
          <a:xfrm>
            <a:off x="1263911" y="28784078"/>
            <a:ext cx="11944090" cy="3539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O circuito foi inicialmente desenvolvido no LTspice, software amplamente utilizado em eletrônica analógica pela sua precisão e praticidade. No ambiente do software, o circuito pode ser projetado e configurado de acordo com as especificações desejadas, conforme mostra a Figura 1. . Em seguida, por meio da simulação transitória, foi possível observar o processo de oscilação e medir a amplitude do sinal gerado pelo circuito, conforme mostra a Figura 2.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9E1FBECD-3053-4258-83D0-547721FD4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7498" y="32440972"/>
            <a:ext cx="5760000" cy="3909763"/>
          </a:xfrm>
          <a:prstGeom prst="rect">
            <a:avLst/>
          </a:prstGeom>
          <a:ln>
            <a:noFill/>
          </a:ln>
        </p:spPr>
      </p:pic>
      <p:sp>
        <p:nvSpPr>
          <p:cNvPr id="67" name="CaixaDeTexto 66">
            <a:extLst>
              <a:ext uri="{FF2B5EF4-FFF2-40B4-BE49-F238E27FC236}">
                <a16:creationId xmlns:a16="http://schemas.microsoft.com/office/drawing/2014/main" id="{80B28ED2-7242-4B30-AD82-0F9E0AADBD7B}"/>
              </a:ext>
            </a:extLst>
          </p:cNvPr>
          <p:cNvSpPr txBox="1"/>
          <p:nvPr/>
        </p:nvSpPr>
        <p:spPr>
          <a:xfrm>
            <a:off x="-1848" y="32323508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8C8EEB7-4391-4003-A744-77598655DA16}"/>
              </a:ext>
            </a:extLst>
          </p:cNvPr>
          <p:cNvSpPr txBox="1"/>
          <p:nvPr/>
        </p:nvSpPr>
        <p:spPr>
          <a:xfrm>
            <a:off x="7471714" y="36354209"/>
            <a:ext cx="576998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2.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Forma de onda gerada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944A7501-AFE4-4CAD-9F6F-509CC0D66089}"/>
              </a:ext>
            </a:extLst>
          </p:cNvPr>
          <p:cNvSpPr txBox="1"/>
          <p:nvPr/>
        </p:nvSpPr>
        <p:spPr>
          <a:xfrm>
            <a:off x="1264692" y="27952596"/>
            <a:ext cx="1194911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Criação e análise do circuito no LTspice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192A545-C3E6-41DA-9247-DC9EB7742A67}"/>
              </a:ext>
            </a:extLst>
          </p:cNvPr>
          <p:cNvSpPr txBox="1"/>
          <p:nvPr/>
        </p:nvSpPr>
        <p:spPr>
          <a:xfrm>
            <a:off x="-1848" y="27759394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4B299441-C4AF-4AFF-9B4F-59391D2BC401}"/>
              </a:ext>
            </a:extLst>
          </p:cNvPr>
          <p:cNvSpPr txBox="1"/>
          <p:nvPr/>
        </p:nvSpPr>
        <p:spPr>
          <a:xfrm>
            <a:off x="4948" y="37489605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CEC9B70E-0E2D-4105-B29D-F2B9B186A38F}"/>
              </a:ext>
            </a:extLst>
          </p:cNvPr>
          <p:cNvSpPr txBox="1"/>
          <p:nvPr/>
        </p:nvSpPr>
        <p:spPr>
          <a:xfrm>
            <a:off x="1271488" y="36842942"/>
            <a:ext cx="1194911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Criação do circuito no KiCad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8A1A808-88B3-46CC-9870-5306E195DC03}"/>
              </a:ext>
            </a:extLst>
          </p:cNvPr>
          <p:cNvSpPr txBox="1"/>
          <p:nvPr/>
        </p:nvSpPr>
        <p:spPr>
          <a:xfrm>
            <a:off x="4948" y="36654502"/>
            <a:ext cx="1265498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234F3B02-7347-42A5-B6F0-D2B66BB7AEDA}"/>
              </a:ext>
            </a:extLst>
          </p:cNvPr>
          <p:cNvSpPr txBox="1"/>
          <p:nvPr/>
        </p:nvSpPr>
        <p:spPr>
          <a:xfrm>
            <a:off x="1270446" y="37677372"/>
            <a:ext cx="11944090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Após simulação no LTspice foi possível elaborar o esquema elétrico do circuito final, conforme mostra a Figura 3 e projetar a placa de circuito impresso (PCI), conforme mostra a Figura 4, utilizando o software KiCad versão 9.0.1. </a:t>
            </a:r>
          </a:p>
          <a:p>
            <a:pPr algn="just"/>
            <a:r>
              <a:rPr lang="pt-BR" sz="3200" dirty="0"/>
              <a:t>O KiCad permitiu organizar os componentes, roteamento das trilhas e visualizar a PCI em 3D, garantindo que o layout fosse adequado para fabricação e facilitando a transição do projeto simulado para a implementação prática.</a:t>
            </a:r>
          </a:p>
        </p:txBody>
      </p:sp>
      <p:pic>
        <p:nvPicPr>
          <p:cNvPr id="85" name="Imagem 84">
            <a:extLst>
              <a:ext uri="{FF2B5EF4-FFF2-40B4-BE49-F238E27FC236}">
                <a16:creationId xmlns:a16="http://schemas.microsoft.com/office/drawing/2014/main" id="{0AF5CDBC-E21E-4EDF-A15F-D78F65EA15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03553" y="7623167"/>
            <a:ext cx="5760000" cy="5716233"/>
          </a:xfrm>
          <a:prstGeom prst="rect">
            <a:avLst/>
          </a:prstGeom>
          <a:ln>
            <a:noFill/>
          </a:ln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B4107BD1-A252-4EEE-A7BA-305119A3F48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56" r="8377"/>
          <a:stretch/>
        </p:blipFill>
        <p:spPr bwMode="auto">
          <a:xfrm>
            <a:off x="21853583" y="7601064"/>
            <a:ext cx="5818743" cy="572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7" name="CaixaDeTexto 86">
            <a:extLst>
              <a:ext uri="{FF2B5EF4-FFF2-40B4-BE49-F238E27FC236}">
                <a16:creationId xmlns:a16="http://schemas.microsoft.com/office/drawing/2014/main" id="{11B889B8-DD10-4DD3-97B0-63077E2529AC}"/>
              </a:ext>
            </a:extLst>
          </p:cNvPr>
          <p:cNvSpPr txBox="1"/>
          <p:nvPr/>
        </p:nvSpPr>
        <p:spPr>
          <a:xfrm>
            <a:off x="15708315" y="13324658"/>
            <a:ext cx="5760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3.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Diagrama elétrico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723B689-90C1-4E0E-A08C-438AE48CB25C}"/>
              </a:ext>
            </a:extLst>
          </p:cNvPr>
          <p:cNvSpPr txBox="1"/>
          <p:nvPr/>
        </p:nvSpPr>
        <p:spPr>
          <a:xfrm>
            <a:off x="21855963" y="13324658"/>
            <a:ext cx="581874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4.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Circuito na PCI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DF3A609-4AB8-4A28-A39E-639187D555B1}"/>
              </a:ext>
            </a:extLst>
          </p:cNvPr>
          <p:cNvSpPr txBox="1"/>
          <p:nvPr/>
        </p:nvSpPr>
        <p:spPr>
          <a:xfrm>
            <a:off x="14467942" y="13631696"/>
            <a:ext cx="1241680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48C299B4-FC72-40C4-B227-F2FA6935E3A4}"/>
              </a:ext>
            </a:extLst>
          </p:cNvPr>
          <p:cNvSpPr txBox="1"/>
          <p:nvPr/>
        </p:nvSpPr>
        <p:spPr>
          <a:xfrm>
            <a:off x="14467942" y="14467113"/>
            <a:ext cx="1241680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" name="Imagem 91">
            <a:extLst>
              <a:ext uri="{FF2B5EF4-FFF2-40B4-BE49-F238E27FC236}">
                <a16:creationId xmlns:a16="http://schemas.microsoft.com/office/drawing/2014/main" id="{E124EF2D-4B87-45DE-9B48-42007B27159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0012" t="7744" r="2305" b="9638"/>
          <a:stretch/>
        </p:blipFill>
        <p:spPr bwMode="auto">
          <a:xfrm rot="16200000">
            <a:off x="16208174" y="21676885"/>
            <a:ext cx="5273718" cy="55934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3" name="Imagem 92">
            <a:extLst>
              <a:ext uri="{FF2B5EF4-FFF2-40B4-BE49-F238E27FC236}">
                <a16:creationId xmlns:a16="http://schemas.microsoft.com/office/drawing/2014/main" id="{63A771CA-2CC3-4602-A4AB-FED818B04C89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7697" r="7697"/>
          <a:stretch/>
        </p:blipFill>
        <p:spPr>
          <a:xfrm>
            <a:off x="22004463" y="21836365"/>
            <a:ext cx="5326478" cy="5274000"/>
          </a:xfrm>
          <a:prstGeom prst="rect">
            <a:avLst/>
          </a:prstGeom>
          <a:ln>
            <a:noFill/>
          </a:ln>
        </p:spPr>
      </p:pic>
      <p:sp>
        <p:nvSpPr>
          <p:cNvPr id="94" name="CaixaDeTexto 93">
            <a:extLst>
              <a:ext uri="{FF2B5EF4-FFF2-40B4-BE49-F238E27FC236}">
                <a16:creationId xmlns:a16="http://schemas.microsoft.com/office/drawing/2014/main" id="{BA2DEBF6-7315-43AB-961B-F5B7C496EF80}"/>
              </a:ext>
            </a:extLst>
          </p:cNvPr>
          <p:cNvSpPr txBox="1"/>
          <p:nvPr/>
        </p:nvSpPr>
        <p:spPr>
          <a:xfrm>
            <a:off x="14467942" y="21641789"/>
            <a:ext cx="1241961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6FDF87D5-D742-47CB-A682-896E83E30DD4}"/>
              </a:ext>
            </a:extLst>
          </p:cNvPr>
          <p:cNvSpPr txBox="1"/>
          <p:nvPr/>
        </p:nvSpPr>
        <p:spPr>
          <a:xfrm>
            <a:off x="14467942" y="27425334"/>
            <a:ext cx="1242000" cy="18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D664EA9-077F-4A9A-9F76-6136CF080658}"/>
              </a:ext>
            </a:extLst>
          </p:cNvPr>
          <p:cNvSpPr txBox="1"/>
          <p:nvPr/>
        </p:nvSpPr>
        <p:spPr>
          <a:xfrm>
            <a:off x="16048303" y="27117557"/>
            <a:ext cx="559021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5.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PCI com os componentes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9739135C-A851-441B-B3ED-F344490EF2C1}"/>
              </a:ext>
            </a:extLst>
          </p:cNvPr>
          <p:cNvSpPr txBox="1"/>
          <p:nvPr/>
        </p:nvSpPr>
        <p:spPr>
          <a:xfrm>
            <a:off x="14468477" y="10362543"/>
            <a:ext cx="716400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5EDE12DD-4589-45E5-BBDD-6C4949C48C24}"/>
              </a:ext>
            </a:extLst>
          </p:cNvPr>
          <p:cNvSpPr txBox="1"/>
          <p:nvPr/>
        </p:nvSpPr>
        <p:spPr>
          <a:xfrm>
            <a:off x="15709903" y="24552662"/>
            <a:ext cx="11942502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14A73BFC-4D64-4ECE-9827-FBF8E5EF615A}"/>
              </a:ext>
            </a:extLst>
          </p:cNvPr>
          <p:cNvSpPr txBox="1"/>
          <p:nvPr/>
        </p:nvSpPr>
        <p:spPr>
          <a:xfrm>
            <a:off x="21463554" y="10167586"/>
            <a:ext cx="385267" cy="871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741E0E90-1173-4D4B-829A-A18E8B8FCCFE}"/>
              </a:ext>
            </a:extLst>
          </p:cNvPr>
          <p:cNvSpPr txBox="1"/>
          <p:nvPr/>
        </p:nvSpPr>
        <p:spPr>
          <a:xfrm>
            <a:off x="21639381" y="27065334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2241DF73-F5A8-4CE6-9FF4-EDD1E11DC1FC}"/>
              </a:ext>
            </a:extLst>
          </p:cNvPr>
          <p:cNvSpPr txBox="1"/>
          <p:nvPr/>
        </p:nvSpPr>
        <p:spPr>
          <a:xfrm>
            <a:off x="21999381" y="27117557"/>
            <a:ext cx="532647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Roboto" pitchFamily="2" charset="0"/>
                <a:ea typeface="Roboto" pitchFamily="2" charset="0"/>
              </a:rPr>
              <a:t>Figura 6.</a:t>
            </a:r>
            <a:r>
              <a:rPr lang="pt-BR" sz="1400" dirty="0">
                <a:latin typeface="Roboto" pitchFamily="2" charset="0"/>
                <a:ea typeface="Roboto" pitchFamily="2" charset="0"/>
              </a:rPr>
              <a:t> Diagrama elétrico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920F145-DE0A-4DBB-B64A-E5F520CE8B83}"/>
              </a:ext>
            </a:extLst>
          </p:cNvPr>
          <p:cNvSpPr txBox="1"/>
          <p:nvPr/>
        </p:nvSpPr>
        <p:spPr>
          <a:xfrm>
            <a:off x="14468478" y="28258673"/>
            <a:ext cx="1241426" cy="201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697A93C9-DAE3-47A5-BA15-9601AE2102B2}"/>
              </a:ext>
            </a:extLst>
          </p:cNvPr>
          <p:cNvSpPr txBox="1"/>
          <p:nvPr/>
        </p:nvSpPr>
        <p:spPr>
          <a:xfrm>
            <a:off x="14467942" y="31508283"/>
            <a:ext cx="1241426" cy="201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AE3C096C-C953-49E9-97D8-862005D372D2}"/>
              </a:ext>
            </a:extLst>
          </p:cNvPr>
          <p:cNvSpPr txBox="1"/>
          <p:nvPr/>
        </p:nvSpPr>
        <p:spPr>
          <a:xfrm>
            <a:off x="14467942" y="32355717"/>
            <a:ext cx="1241426" cy="201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5EE15561-BFD8-4F38-8D92-5EC0C781DD94}"/>
              </a:ext>
            </a:extLst>
          </p:cNvPr>
          <p:cNvSpPr txBox="1"/>
          <p:nvPr/>
        </p:nvSpPr>
        <p:spPr>
          <a:xfrm>
            <a:off x="14468477" y="38066632"/>
            <a:ext cx="1241426" cy="201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1E748972-1D08-4B1E-AEF8-E79AFA8C9CE3}"/>
              </a:ext>
            </a:extLst>
          </p:cNvPr>
          <p:cNvSpPr txBox="1"/>
          <p:nvPr/>
        </p:nvSpPr>
        <p:spPr>
          <a:xfrm>
            <a:off x="14468477" y="38914066"/>
            <a:ext cx="1241426" cy="201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2C3F4443-7314-444D-9495-E22E6DA0833F}"/>
              </a:ext>
            </a:extLst>
          </p:cNvPr>
          <p:cNvSpPr txBox="1"/>
          <p:nvPr/>
        </p:nvSpPr>
        <p:spPr>
          <a:xfrm>
            <a:off x="15709903" y="26752258"/>
            <a:ext cx="3384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29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1846</TotalTime>
  <Words>896</Words>
  <Application>Microsoft Office PowerPoint</Application>
  <PresentationFormat>Personalizar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Roboto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Pinto de Moraes Silviano</dc:creator>
  <cp:lastModifiedBy>Felipe de Oliveira (FIPT)</cp:lastModifiedBy>
  <cp:revision>46</cp:revision>
  <dcterms:created xsi:type="dcterms:W3CDTF">2025-09-10T03:43:59Z</dcterms:created>
  <dcterms:modified xsi:type="dcterms:W3CDTF">2025-10-17T17:38:15Z</dcterms:modified>
</cp:coreProperties>
</file>